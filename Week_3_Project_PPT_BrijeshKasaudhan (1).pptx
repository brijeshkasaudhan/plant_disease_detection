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Default Extension="png" ContentType="image/png"/>
  <Override PartName="/ppt/metadata" ContentType="application/binary"/>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1"/>
  </p:sldMasterIdLst>
  <p:sldIdLst>
    <p:sldId id="256" r:id="rId2"/>
    <p:sldId id="257" r:id="rId3"/>
    <p:sldId id="258" r:id="rId4"/>
    <p:sldId id="259" r:id="rId5"/>
    <p:sldId id="260" r:id="rId6"/>
    <p:sldId id="261" r:id="rId7"/>
    <p:sldId id="263" r:id="rId8"/>
    <p:sldId id="264" r:id="rId9"/>
    <p:sldId id="262" r:id="rId10"/>
    <p:sldId id="265"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792">
          <p15:clr>
            <a:srgbClr val="A4A3A4"/>
          </p15:clr>
        </p15:guide>
        <p15:guide id="2" pos="192">
          <p15:clr>
            <a:srgbClr val="A4A3A4"/>
          </p15:clr>
        </p15:guide>
        <p15:guide id="3" orient="horz" pos="1080">
          <p15:clr>
            <a:srgbClr val="A4A3A4"/>
          </p15:clr>
        </p15:guide>
      </p15:sldGuideLst>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xmlns=""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7" d="100"/>
          <a:sy n="87" d="100"/>
        </p:scale>
        <p:origin x="-528" y="-86"/>
      </p:cViewPr>
      <p:guideLst>
        <p:guide orient="horz" pos="792"/>
        <p:guide orient="horz" pos="1080"/>
        <p:guide pos="192"/>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22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22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20" Type="http://customschemas.google.com/relationships/presentationmetadata" Target="metadata"/><Relationship Id="rId5" Type="http://schemas.openxmlformats.org/officeDocument/2006/relationships/slide" Target="slides/slide4.xml"/><Relationship Id="rId10" Type="http://schemas.openxmlformats.org/officeDocument/2006/relationships/slide" Target="slides/slide9.xml"/><Relationship Id="rId22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2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82341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837878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xmlns="" val="2771877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xmlns="" id="{CE849A3B-BCF0-B774-F89E-81965C71F93E}"/>
              </a:ext>
            </a:extLst>
          </p:cNvPr>
          <p:cNvPicPr preferRelativeResize="0"/>
          <p:nvPr/>
        </p:nvPicPr>
        <p:blipFill rotWithShape="1">
          <a:blip r:embed="rId6">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xmlns="" id="{E153E6A6-60E4-FE14-1CBC-8CC211274D1C}"/>
              </a:ext>
            </a:extLst>
          </p:cNvPr>
          <p:cNvSpPr/>
          <p:nvPr/>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xmlns="" id="{2C7CE881-772B-9023-3054-4B219B75D755}"/>
              </a:ext>
            </a:extLst>
          </p:cNvPr>
          <p:cNvSpPr/>
          <p:nvPr/>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xmlns="" id="{16A7B69A-9B14-87FE-841D-37F0A91D141D}"/>
              </a:ext>
            </a:extLst>
          </p:cNvPr>
          <p:cNvPicPr>
            <a:picLocks noChangeAspect="1"/>
          </p:cNvPicPr>
          <p:nvPr/>
        </p:nvPicPr>
        <p:blipFill rotWithShape="1">
          <a:blip r:embed="rId7">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xmlns="" id="{37B91A16-5D54-2FC0-B0FD-A78085FC1313}"/>
              </a:ext>
            </a:extLst>
          </p:cNvPr>
          <p:cNvSpPr/>
          <p:nvPr/>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687" r:id="rId1"/>
    <p:sldLayoutId id="2147483701" r:id="rId2"/>
    <p:sldLayoutId id="2147483714" r:id="rId3"/>
    <p:sldLayoutId id="2147483727"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xmlns="">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freepik.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erson sitting at a desk with a computer&#10;&#10;Description automatically generated">
            <a:extLst>
              <a:ext uri="{FF2B5EF4-FFF2-40B4-BE49-F238E27FC236}">
                <a16:creationId xmlns:a16="http://schemas.microsoft.com/office/drawing/2014/main" xmlns="" id="{07B8740D-C76F-46FC-AEFB-23FB0614DB0C}"/>
              </a:ext>
            </a:extLst>
          </p:cNvPr>
          <p:cNvPicPr>
            <a:picLocks noChangeAspect="1"/>
          </p:cNvPicPr>
          <p:nvPr/>
        </p:nvPicPr>
        <p:blipFill>
          <a:blip r:embed="rId2"/>
          <a:stretch>
            <a:fillRect/>
          </a:stretch>
        </p:blipFill>
        <p:spPr>
          <a:xfrm>
            <a:off x="0" y="0"/>
            <a:ext cx="12192000" cy="6858000"/>
          </a:xfrm>
          <a:prstGeom prst="rect">
            <a:avLst/>
          </a:prstGeom>
        </p:spPr>
      </p:pic>
      <p:sp>
        <p:nvSpPr>
          <p:cNvPr id="4" name="Rectangle: Rounded Corners 3">
            <a:extLst>
              <a:ext uri="{FF2B5EF4-FFF2-40B4-BE49-F238E27FC236}">
                <a16:creationId xmlns:a16="http://schemas.microsoft.com/office/drawing/2014/main" xmlns="" id="{C1857762-AD52-483C-B3E1-635C5BBC6F2F}"/>
              </a:ext>
            </a:extLst>
          </p:cNvPr>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xmlns="" id="{D5067E9C-C7B9-4476-9708-CBB3F66FD892}"/>
              </a:ext>
            </a:extLst>
          </p:cNvPr>
          <p:cNvSpPr txBox="1"/>
          <p:nvPr/>
        </p:nvSpPr>
        <p:spPr>
          <a:xfrm>
            <a:off x="4441732" y="2242039"/>
            <a:ext cx="6870861" cy="1200329"/>
          </a:xfrm>
          <a:prstGeom prst="rect">
            <a:avLst/>
          </a:prstGeom>
          <a:noFill/>
        </p:spPr>
        <p:txBody>
          <a:bodyPr wrap="square" rtlCol="0">
            <a:spAutoFit/>
          </a:bodyPr>
          <a:lstStyle/>
          <a:p>
            <a:r>
              <a:rPr lang="en-US" sz="3600" b="1" dirty="0">
                <a:solidFill>
                  <a:schemeClr val="bg1"/>
                </a:solidFill>
                <a:latin typeface="Calibri" panose="020F0502020204030204" pitchFamily="34" charset="0"/>
                <a:cs typeface="Times New Roman" panose="02020603050405020304" pitchFamily="18" charset="0"/>
              </a:rPr>
              <a:t>Name of </a:t>
            </a:r>
            <a:r>
              <a:rPr lang="en-US" sz="3600" b="1" dirty="0" smtClean="0">
                <a:solidFill>
                  <a:schemeClr val="bg1"/>
                </a:solidFill>
                <a:latin typeface="Calibri" panose="020F0502020204030204" pitchFamily="34" charset="0"/>
                <a:cs typeface="Times New Roman" panose="02020603050405020304" pitchFamily="18" charset="0"/>
              </a:rPr>
              <a:t>Project: Plant Disease Detection </a:t>
            </a:r>
            <a:r>
              <a:rPr lang="en-IN" sz="3600" b="1" dirty="0" smtClean="0">
                <a:solidFill>
                  <a:schemeClr val="bg1"/>
                </a:solidFill>
                <a:latin typeface="Calibri" panose="020F0502020204030204" pitchFamily="34" charset="0"/>
                <a:cs typeface="Times New Roman" panose="02020603050405020304" pitchFamily="18" charset="0"/>
              </a:rPr>
              <a:t> </a:t>
            </a:r>
            <a:endParaRPr lang="en-US" sz="3600" b="1" dirty="0">
              <a:solidFill>
                <a:schemeClr val="bg1"/>
              </a:solidFill>
              <a:latin typeface="Arial" panose="020B0604020202020204" pitchFamily="34" charset="0"/>
              <a:cs typeface="Arial" panose="020B0604020202020204" pitchFamily="34" charset="0"/>
            </a:endParaRPr>
          </a:p>
        </p:txBody>
      </p:sp>
      <p:grpSp>
        <p:nvGrpSpPr>
          <p:cNvPr id="6" name="Group 5">
            <a:extLst>
              <a:ext uri="{FF2B5EF4-FFF2-40B4-BE49-F238E27FC236}">
                <a16:creationId xmlns:a16="http://schemas.microsoft.com/office/drawing/2014/main" xmlns="" id="{D7224A59-2417-428A-A991-E468431BB817}"/>
              </a:ext>
            </a:extLst>
          </p:cNvPr>
          <p:cNvGrpSpPr/>
          <p:nvPr/>
        </p:nvGrpSpPr>
        <p:grpSpPr>
          <a:xfrm>
            <a:off x="6890523" y="742091"/>
            <a:ext cx="2640053" cy="664378"/>
            <a:chOff x="2375536" y="1112060"/>
            <a:chExt cx="3292636" cy="828603"/>
          </a:xfrm>
        </p:grpSpPr>
        <p:pic>
          <p:nvPicPr>
            <p:cNvPr id="7" name="Picture 6" descr="A close up of a logo&#10;&#10;Description automatically generated">
              <a:extLst>
                <a:ext uri="{FF2B5EF4-FFF2-40B4-BE49-F238E27FC236}">
                  <a16:creationId xmlns:a16="http://schemas.microsoft.com/office/drawing/2014/main" xmlns="" id="{BD3530AF-9771-470E-A9BF-F28AA2275338}"/>
                </a:ext>
              </a:extLst>
            </p:cNvPr>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4092781" y="1270168"/>
              <a:ext cx="1575391" cy="512386"/>
            </a:xfrm>
            <a:prstGeom prst="rect">
              <a:avLst/>
            </a:prstGeom>
          </p:spPr>
        </p:pic>
        <p:pic>
          <p:nvPicPr>
            <p:cNvPr id="8" name="Picture 7" descr="A yellow and red shell logo&#10;&#10;Description automatically generated">
              <a:extLst>
                <a:ext uri="{FF2B5EF4-FFF2-40B4-BE49-F238E27FC236}">
                  <a16:creationId xmlns:a16="http://schemas.microsoft.com/office/drawing/2014/main" xmlns="" id="{75E6A819-9F3F-4787-A707-A7415C302BFA}"/>
                </a:ext>
              </a:extLst>
            </p:cNvPr>
            <p:cNvPicPr>
              <a:picLocks noChangeAspect="1"/>
            </p:cNvPicPr>
            <p:nvPr/>
          </p:nvPicPr>
          <p:blipFill>
            <a:blip r:embed="rId4"/>
            <a:stretch>
              <a:fillRect/>
            </a:stretch>
          </p:blipFill>
          <p:spPr>
            <a:xfrm>
              <a:off x="2375536" y="1112060"/>
              <a:ext cx="985475" cy="828603"/>
            </a:xfrm>
            <a:prstGeom prst="rect">
              <a:avLst/>
            </a:prstGeom>
          </p:spPr>
        </p:pic>
      </p:grpSp>
      <p:sp>
        <p:nvSpPr>
          <p:cNvPr id="9" name="TextBox 8"/>
          <p:cNvSpPr txBox="1"/>
          <p:nvPr/>
        </p:nvSpPr>
        <p:spPr>
          <a:xfrm>
            <a:off x="5108330" y="4132385"/>
            <a:ext cx="5495193" cy="666977"/>
          </a:xfrm>
          <a:prstGeom prst="rect">
            <a:avLst/>
          </a:prstGeom>
          <a:solidFill>
            <a:schemeClr val="bg1"/>
          </a:solidFill>
        </p:spPr>
        <p:txBody>
          <a:bodyPr wrap="square" rtlCol="0">
            <a:spAutoFit/>
          </a:bodyPr>
          <a:lstStyle/>
          <a:p>
            <a:r>
              <a:rPr lang="en-IN" dirty="0" smtClean="0"/>
              <a:t>Name: </a:t>
            </a:r>
            <a:r>
              <a:rPr lang="en-IN" dirty="0" err="1" smtClean="0"/>
              <a:t>Brijesh</a:t>
            </a:r>
            <a:r>
              <a:rPr lang="en-IN" dirty="0" smtClean="0"/>
              <a:t> </a:t>
            </a:r>
            <a:r>
              <a:rPr lang="en-IN" dirty="0" err="1" smtClean="0"/>
              <a:t>Kasaudhan</a:t>
            </a:r>
            <a:endParaRPr lang="en-IN" dirty="0" smtClean="0"/>
          </a:p>
          <a:p>
            <a:r>
              <a:rPr lang="en-IN" dirty="0" smtClean="0"/>
              <a:t>College: IMS Engineering College Ghaziabad</a:t>
            </a:r>
            <a:endParaRPr lang="en-US" dirty="0"/>
          </a:p>
        </p:txBody>
      </p:sp>
    </p:spTree>
    <p:extLst>
      <p:ext uri="{BB962C8B-B14F-4D97-AF65-F5344CB8AC3E}">
        <p14:creationId xmlns:p14="http://schemas.microsoft.com/office/powerpoint/2010/main" xmlns="" val="367127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B094E319-C77C-49E2-964C-6E125D716194}"/>
              </a:ext>
            </a:extLst>
          </p:cNvPr>
          <p:cNvSpPr txBox="1"/>
          <p:nvPr/>
        </p:nvSpPr>
        <p:spPr>
          <a:xfrm>
            <a:off x="191911" y="972537"/>
            <a:ext cx="2652889" cy="400110"/>
          </a:xfrm>
          <a:prstGeom prst="rect">
            <a:avLst/>
          </a:prstGeom>
          <a:noFill/>
        </p:spPr>
        <p:txBody>
          <a:bodyPr wrap="square">
            <a:spAutoFit/>
          </a:bodyPr>
          <a:lstStyle/>
          <a:p>
            <a:r>
              <a:rPr lang="en-IN" sz="2000" b="1" dirty="0">
                <a:solidFill>
                  <a:srgbClr val="213163"/>
                </a:solidFill>
              </a:rPr>
              <a:t>Learning Objectives</a:t>
            </a:r>
            <a:endParaRPr lang="en-IN" sz="2000" dirty="0">
              <a:solidFill>
                <a:srgbClr val="213163"/>
              </a:solidFill>
            </a:endParaRPr>
          </a:p>
        </p:txBody>
      </p:sp>
      <p:sp>
        <p:nvSpPr>
          <p:cNvPr id="3" name="TextBox 2">
            <a:extLst>
              <a:ext uri="{FF2B5EF4-FFF2-40B4-BE49-F238E27FC236}">
                <a16:creationId xmlns:a16="http://schemas.microsoft.com/office/drawing/2014/main" xmlns="" id="{8E1F3497-5370-4874-9908-5AD45214E10B}"/>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4" name="TextBox 3">
            <a:extLst>
              <a:ext uri="{FF2B5EF4-FFF2-40B4-BE49-F238E27FC236}">
                <a16:creationId xmlns:a16="http://schemas.microsoft.com/office/drawing/2014/main" xmlns="" id="{ECE830DD-8813-42EB-B27B-B7D85423D0C7}"/>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2">
                  <a:extLst>
                    <a:ext uri="{A12FA001-AC4F-418D-AE19-62706E023703}">
                      <ahyp:hlinkClr xmlns:ahyp="http://schemas.microsoft.com/office/drawing/2018/hyperlinkcolor" xmlns="" val="tx"/>
                    </a:ext>
                  </a:extLst>
                </a:hlinkClick>
              </a:rPr>
              <a:t>www.freepik.com/</a:t>
            </a:r>
            <a:endParaRPr lang="en-IN" sz="1200" dirty="0">
              <a:solidFill>
                <a:srgbClr val="0000FF"/>
              </a:solidFill>
              <a:latin typeface="+mn-lt"/>
            </a:endParaRPr>
          </a:p>
        </p:txBody>
      </p:sp>
      <p:cxnSp>
        <p:nvCxnSpPr>
          <p:cNvPr id="5" name="Straight Connector 4">
            <a:extLst>
              <a:ext uri="{FF2B5EF4-FFF2-40B4-BE49-F238E27FC236}">
                <a16:creationId xmlns:a16="http://schemas.microsoft.com/office/drawing/2014/main" xmlns="" id="{CA22F707-7F22-48A3-97EC-98EFB1023A55}"/>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ladder leading to a large yellow circle&#10;&#10;Description automatically generated">
            <a:extLst>
              <a:ext uri="{FF2B5EF4-FFF2-40B4-BE49-F238E27FC236}">
                <a16:creationId xmlns:a16="http://schemas.microsoft.com/office/drawing/2014/main" xmlns="" id="{E2920B14-B344-4926-9729-BC7EBD91FF9A}"/>
              </a:ext>
            </a:extLst>
          </p:cNvPr>
          <p:cNvPicPr>
            <a:picLocks noChangeAspect="1"/>
          </p:cNvPicPr>
          <p:nvPr/>
        </p:nvPicPr>
        <p:blipFill rotWithShape="1">
          <a:blip r:embed="rId3">
            <a:alphaModFix amt="85000"/>
          </a:blip>
          <a:srcRect l="13763" t="6135" r="13650"/>
          <a:stretch/>
        </p:blipFill>
        <p:spPr>
          <a:xfrm>
            <a:off x="7866966" y="1477889"/>
            <a:ext cx="4500880" cy="4632960"/>
          </a:xfrm>
          <a:prstGeom prst="rect">
            <a:avLst/>
          </a:prstGeom>
        </p:spPr>
      </p:pic>
      <p:sp>
        <p:nvSpPr>
          <p:cNvPr id="7" name="TextBox 6">
            <a:extLst>
              <a:ext uri="{FF2B5EF4-FFF2-40B4-BE49-F238E27FC236}">
                <a16:creationId xmlns:a16="http://schemas.microsoft.com/office/drawing/2014/main" xmlns="" id="{6C264928-EACB-4739-BDDA-6799C99356F3}"/>
              </a:ext>
            </a:extLst>
          </p:cNvPr>
          <p:cNvSpPr txBox="1"/>
          <p:nvPr/>
        </p:nvSpPr>
        <p:spPr>
          <a:xfrm>
            <a:off x="9270023" y="3151024"/>
            <a:ext cx="1503681" cy="630942"/>
          </a:xfrm>
          <a:prstGeom prst="rect">
            <a:avLst/>
          </a:prstGeom>
          <a:noFill/>
        </p:spPr>
        <p:txBody>
          <a:bodyPr wrap="square" rtlCol="0">
            <a:spAutoFit/>
          </a:bodyPr>
          <a:lstStyle/>
          <a:p>
            <a:pPr>
              <a:spcAft>
                <a:spcPts val="800"/>
              </a:spcAft>
            </a:pPr>
            <a:r>
              <a:rPr lang="en-IN" sz="3500" b="1" dirty="0">
                <a:solidFill>
                  <a:schemeClr val="tx1"/>
                </a:solidFill>
                <a:latin typeface="+mn-lt"/>
              </a:rPr>
              <a:t>GOAL</a:t>
            </a:r>
          </a:p>
        </p:txBody>
      </p:sp>
      <p:sp>
        <p:nvSpPr>
          <p:cNvPr id="8" name="TextBox 7"/>
          <p:cNvSpPr txBox="1"/>
          <p:nvPr/>
        </p:nvSpPr>
        <p:spPr>
          <a:xfrm>
            <a:off x="457200" y="1433147"/>
            <a:ext cx="8229600" cy="4770537"/>
          </a:xfrm>
          <a:prstGeom prst="rect">
            <a:avLst/>
          </a:prstGeom>
          <a:noFill/>
        </p:spPr>
        <p:txBody>
          <a:bodyPr wrap="square" rtlCol="0">
            <a:spAutoFit/>
          </a:bodyPr>
          <a:lstStyle/>
          <a:p>
            <a:r>
              <a:rPr lang="en-US" sz="1600" b="1" dirty="0" smtClean="0"/>
              <a:t>Understand Plant Pathology Basics</a:t>
            </a:r>
            <a:endParaRPr lang="en-US" sz="1600" dirty="0" smtClean="0"/>
          </a:p>
          <a:p>
            <a:r>
              <a:rPr lang="en-US" sz="1600" dirty="0" smtClean="0"/>
              <a:t>Learn common plant diseases, their </a:t>
            </a:r>
            <a:r>
              <a:rPr lang="en-US" sz="1600" dirty="0" smtClean="0"/>
              <a:t>symptoms </a:t>
            </a:r>
            <a:r>
              <a:rPr lang="en-US" sz="1600" dirty="0" smtClean="0"/>
              <a:t>and visual indicators.</a:t>
            </a:r>
          </a:p>
          <a:p>
            <a:r>
              <a:rPr lang="en-US" sz="1600" dirty="0" smtClean="0"/>
              <a:t>Understand how early detection can prevent crop loss.</a:t>
            </a:r>
          </a:p>
          <a:p>
            <a:r>
              <a:rPr lang="en-US" sz="1600" b="1" dirty="0" smtClean="0"/>
              <a:t>Apply Deep Learning for Image Classification</a:t>
            </a:r>
            <a:endParaRPr lang="en-US" sz="1600" dirty="0" smtClean="0"/>
          </a:p>
          <a:p>
            <a:r>
              <a:rPr lang="en-US" sz="1600" dirty="0" smtClean="0"/>
              <a:t>Learn how to build, </a:t>
            </a:r>
            <a:r>
              <a:rPr lang="en-US" sz="1600" dirty="0" smtClean="0"/>
              <a:t>train </a:t>
            </a:r>
            <a:r>
              <a:rPr lang="en-US" sz="1600" dirty="0" smtClean="0"/>
              <a:t>and evaluate </a:t>
            </a:r>
            <a:r>
              <a:rPr lang="en-US" sz="1600" dirty="0" err="1" smtClean="0"/>
              <a:t>Convolutional</a:t>
            </a:r>
            <a:r>
              <a:rPr lang="en-US" sz="1600" dirty="0" smtClean="0"/>
              <a:t> Neural Networks (CNNs).</a:t>
            </a:r>
          </a:p>
          <a:p>
            <a:r>
              <a:rPr lang="en-US" sz="1600" dirty="0" smtClean="0"/>
              <a:t>Understand concepts like image preprocessing, data </a:t>
            </a:r>
            <a:r>
              <a:rPr lang="en-US" sz="1600" dirty="0" smtClean="0"/>
              <a:t>augmentation </a:t>
            </a:r>
            <a:r>
              <a:rPr lang="en-US" sz="1600" dirty="0" smtClean="0"/>
              <a:t>and transfer learning.</a:t>
            </a:r>
          </a:p>
          <a:p>
            <a:r>
              <a:rPr lang="en-US" sz="1600" b="1" dirty="0" smtClean="0"/>
              <a:t>Work with Agricultural Image Datasets</a:t>
            </a:r>
            <a:endParaRPr lang="en-US" sz="1600" dirty="0" smtClean="0"/>
          </a:p>
          <a:p>
            <a:r>
              <a:rPr lang="en-US" sz="1600" dirty="0" smtClean="0"/>
              <a:t>Explore datasets like </a:t>
            </a:r>
            <a:r>
              <a:rPr lang="en-US" sz="1600" b="1" dirty="0" err="1" smtClean="0"/>
              <a:t>PlantVillage</a:t>
            </a:r>
            <a:r>
              <a:rPr lang="en-US" sz="1600" dirty="0" smtClean="0"/>
              <a:t>.</a:t>
            </a:r>
          </a:p>
          <a:p>
            <a:r>
              <a:rPr lang="en-US" sz="1600" dirty="0" smtClean="0"/>
              <a:t>Learn how to clean, </a:t>
            </a:r>
            <a:r>
              <a:rPr lang="en-US" sz="1600" dirty="0" smtClean="0"/>
              <a:t>annotate </a:t>
            </a:r>
            <a:r>
              <a:rPr lang="en-US" sz="1600" dirty="0" smtClean="0"/>
              <a:t>and prepare image data for model training.</a:t>
            </a:r>
          </a:p>
          <a:p>
            <a:r>
              <a:rPr lang="en-US" sz="1600" b="1" dirty="0" smtClean="0"/>
              <a:t>Develop an End-to-End AI System</a:t>
            </a:r>
            <a:endParaRPr lang="en-US" sz="1600" dirty="0" smtClean="0"/>
          </a:p>
          <a:p>
            <a:r>
              <a:rPr lang="en-US" sz="1600" dirty="0" smtClean="0"/>
              <a:t>Build a pipeline that connects image input → model prediction → result display.</a:t>
            </a:r>
          </a:p>
          <a:p>
            <a:r>
              <a:rPr lang="en-US" sz="1600" dirty="0" smtClean="0"/>
              <a:t>Understand backend integration using </a:t>
            </a:r>
            <a:r>
              <a:rPr lang="en-US" sz="1600" b="1" dirty="0" err="1" smtClean="0"/>
              <a:t>FastAPI</a:t>
            </a:r>
            <a:r>
              <a:rPr lang="en-US" sz="1600" dirty="0" smtClean="0"/>
              <a:t> or </a:t>
            </a:r>
            <a:r>
              <a:rPr lang="en-US" sz="1600" b="1" dirty="0" smtClean="0"/>
              <a:t>Flask</a:t>
            </a:r>
            <a:r>
              <a:rPr lang="en-US" sz="1600" dirty="0" smtClean="0"/>
              <a:t>.</a:t>
            </a:r>
          </a:p>
          <a:p>
            <a:r>
              <a:rPr lang="en-US" sz="1600" b="1" dirty="0" smtClean="0"/>
              <a:t>Improve </a:t>
            </a:r>
            <a:r>
              <a:rPr lang="en-US" sz="1600" b="1" dirty="0" smtClean="0"/>
              <a:t>Problem-Solving and Debugging Skills</a:t>
            </a:r>
            <a:endParaRPr lang="en-US" sz="1600" dirty="0" smtClean="0"/>
          </a:p>
          <a:p>
            <a:r>
              <a:rPr lang="en-US" sz="1600" dirty="0" smtClean="0"/>
              <a:t>Tackle challenges in model accuracy, </a:t>
            </a:r>
            <a:r>
              <a:rPr lang="en-US" sz="1600" dirty="0" err="1" smtClean="0"/>
              <a:t>overfitting</a:t>
            </a:r>
            <a:r>
              <a:rPr lang="en-US" sz="1600" dirty="0" smtClean="0"/>
              <a:t> </a:t>
            </a:r>
            <a:r>
              <a:rPr lang="en-US" sz="1600" dirty="0" smtClean="0"/>
              <a:t>and prediction errors.</a:t>
            </a:r>
          </a:p>
          <a:p>
            <a:r>
              <a:rPr lang="en-US" sz="1600" dirty="0" smtClean="0"/>
              <a:t>Optimize performance and user experience through testing and iteration.</a:t>
            </a:r>
          </a:p>
          <a:p>
            <a:r>
              <a:rPr lang="en-US" sz="1600" b="1" dirty="0" smtClean="0"/>
              <a:t>Gain Experience in Real-World AI Applications</a:t>
            </a:r>
            <a:endParaRPr lang="en-US" sz="1600" dirty="0" smtClean="0"/>
          </a:p>
          <a:p>
            <a:r>
              <a:rPr lang="en-US" sz="1600" dirty="0" smtClean="0"/>
              <a:t>Understand the role of AI in agriculture </a:t>
            </a:r>
            <a:r>
              <a:rPr lang="en-US" sz="1600" dirty="0" smtClean="0"/>
              <a:t>.</a:t>
            </a:r>
            <a:endParaRPr lang="en-US" sz="1600" dirty="0" smtClean="0"/>
          </a:p>
          <a:p>
            <a:r>
              <a:rPr lang="en-US" sz="1600" dirty="0" smtClean="0"/>
              <a:t>Learn to build solutions that can create real social and economic impact.</a:t>
            </a:r>
          </a:p>
          <a:p>
            <a:endParaRPr lang="en-US" sz="1600" dirty="0"/>
          </a:p>
        </p:txBody>
      </p:sp>
    </p:spTree>
    <p:extLst>
      <p:ext uri="{BB962C8B-B14F-4D97-AF65-F5344CB8AC3E}">
        <p14:creationId xmlns:p14="http://schemas.microsoft.com/office/powerpoint/2010/main" xmlns="" val="2932052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2361D872-7EC7-439F-A588-B1D90CB7A92F}"/>
              </a:ext>
            </a:extLst>
          </p:cNvPr>
          <p:cNvSpPr txBox="1"/>
          <p:nvPr/>
        </p:nvSpPr>
        <p:spPr>
          <a:xfrm>
            <a:off x="135834" y="1067664"/>
            <a:ext cx="6102626" cy="400110"/>
          </a:xfrm>
          <a:prstGeom prst="rect">
            <a:avLst/>
          </a:prstGeom>
          <a:noFill/>
        </p:spPr>
        <p:txBody>
          <a:bodyPr wrap="square">
            <a:spAutoFit/>
          </a:bodyPr>
          <a:lstStyle/>
          <a:p>
            <a:r>
              <a:rPr lang="en-US" sz="1800" b="1" dirty="0">
                <a:solidFill>
                  <a:srgbClr val="213163"/>
                </a:solidFill>
              </a:rPr>
              <a:t>T</a:t>
            </a:r>
            <a:r>
              <a:rPr lang="en-IN" sz="2000" b="1" dirty="0" err="1">
                <a:solidFill>
                  <a:srgbClr val="213163"/>
                </a:solidFill>
              </a:rPr>
              <a:t>ools</a:t>
            </a:r>
            <a:r>
              <a:rPr lang="en-IN" sz="2000" b="1" dirty="0">
                <a:solidFill>
                  <a:srgbClr val="213163"/>
                </a:solidFill>
              </a:rPr>
              <a:t> and Technology used </a:t>
            </a:r>
          </a:p>
        </p:txBody>
      </p:sp>
      <p:sp>
        <p:nvSpPr>
          <p:cNvPr id="4" name="TextBox 3"/>
          <p:cNvSpPr txBox="1"/>
          <p:nvPr/>
        </p:nvSpPr>
        <p:spPr>
          <a:xfrm>
            <a:off x="492369" y="2013438"/>
            <a:ext cx="11007969" cy="2965555"/>
          </a:xfrm>
          <a:prstGeom prst="rect">
            <a:avLst/>
          </a:prstGeom>
          <a:noFill/>
        </p:spPr>
        <p:txBody>
          <a:bodyPr wrap="square" rtlCol="0">
            <a:spAutoFit/>
          </a:bodyPr>
          <a:lstStyle/>
          <a:p>
            <a:r>
              <a:rPr lang="en-US" b="1" dirty="0" smtClean="0"/>
              <a:t>🔍 AI &amp; Machine Learning</a:t>
            </a:r>
          </a:p>
          <a:p>
            <a:r>
              <a:rPr lang="en-US" b="1" dirty="0" smtClean="0"/>
              <a:t>Python</a:t>
            </a:r>
            <a:r>
              <a:rPr lang="en-US" dirty="0" smtClean="0"/>
              <a:t> – Core programming language for model and backend logic.</a:t>
            </a:r>
          </a:p>
          <a:p>
            <a:r>
              <a:rPr lang="en-US" b="1" dirty="0" err="1" smtClean="0"/>
              <a:t>TensorFlow</a:t>
            </a:r>
            <a:r>
              <a:rPr lang="en-US" b="1" dirty="0" smtClean="0"/>
              <a:t> / </a:t>
            </a:r>
            <a:r>
              <a:rPr lang="en-US" b="1" dirty="0" err="1" smtClean="0"/>
              <a:t>Keras</a:t>
            </a:r>
            <a:r>
              <a:rPr lang="en-US" dirty="0" smtClean="0"/>
              <a:t> or </a:t>
            </a:r>
            <a:r>
              <a:rPr lang="en-US" b="1" dirty="0" err="1" smtClean="0"/>
              <a:t>PyTorch</a:t>
            </a:r>
            <a:r>
              <a:rPr lang="en-US" dirty="0" smtClean="0"/>
              <a:t> – For building and training the CNN model.</a:t>
            </a:r>
          </a:p>
          <a:p>
            <a:r>
              <a:rPr lang="en-US" b="1" dirty="0" err="1" smtClean="0"/>
              <a:t>NumPy</a:t>
            </a:r>
            <a:r>
              <a:rPr lang="en-US" b="1" dirty="0" smtClean="0"/>
              <a:t>, Pandas, </a:t>
            </a:r>
            <a:r>
              <a:rPr lang="en-US" b="1" dirty="0" err="1" smtClean="0"/>
              <a:t>Matplotlib</a:t>
            </a:r>
            <a:r>
              <a:rPr lang="en-US" dirty="0" smtClean="0"/>
              <a:t> – Data manipulation, </a:t>
            </a:r>
            <a:r>
              <a:rPr lang="en-US" dirty="0" smtClean="0"/>
              <a:t>analysis </a:t>
            </a:r>
            <a:r>
              <a:rPr lang="en-US" dirty="0" smtClean="0"/>
              <a:t>and visualization.</a:t>
            </a:r>
          </a:p>
          <a:p>
            <a:r>
              <a:rPr lang="en-US" b="1" dirty="0" err="1" smtClean="0"/>
              <a:t>OpenCV</a:t>
            </a:r>
            <a:r>
              <a:rPr lang="en-US" dirty="0" smtClean="0"/>
              <a:t> – Image processing and enhancement (e.g., resizing, filtering).</a:t>
            </a:r>
          </a:p>
          <a:p>
            <a:r>
              <a:rPr lang="en-US" b="1" dirty="0" err="1" smtClean="0"/>
              <a:t>scikit</a:t>
            </a:r>
            <a:r>
              <a:rPr lang="en-US" b="1" dirty="0" smtClean="0"/>
              <a:t>-learn</a:t>
            </a:r>
            <a:r>
              <a:rPr lang="en-US" dirty="0" smtClean="0"/>
              <a:t> – Model evaluation metrics and utilities.</a:t>
            </a:r>
          </a:p>
          <a:p>
            <a:r>
              <a:rPr lang="en-US" b="1" dirty="0" smtClean="0"/>
              <a:t>🖼️ Dataset &amp; Annotation</a:t>
            </a:r>
          </a:p>
          <a:p>
            <a:r>
              <a:rPr lang="en-US" b="1" dirty="0" err="1" smtClean="0"/>
              <a:t>PlantVillage</a:t>
            </a:r>
            <a:r>
              <a:rPr lang="en-US" b="1" dirty="0" smtClean="0"/>
              <a:t> Dataset</a:t>
            </a:r>
            <a:r>
              <a:rPr lang="en-US" dirty="0" smtClean="0"/>
              <a:t> – Open-source dataset with labeled images of plant diseases.</a:t>
            </a:r>
          </a:p>
          <a:p>
            <a:r>
              <a:rPr lang="en-US" b="1" dirty="0" err="1" smtClean="0"/>
              <a:t>LabelImg</a:t>
            </a:r>
            <a:r>
              <a:rPr lang="en-US" b="1" dirty="0" smtClean="0"/>
              <a:t> / </a:t>
            </a:r>
            <a:r>
              <a:rPr lang="en-US" b="1" dirty="0" err="1" smtClean="0"/>
              <a:t>Roboflow</a:t>
            </a:r>
            <a:r>
              <a:rPr lang="en-US" dirty="0" smtClean="0"/>
              <a:t> </a:t>
            </a:r>
            <a:r>
              <a:rPr lang="en-US" i="1" dirty="0" smtClean="0"/>
              <a:t>(optional)</a:t>
            </a:r>
            <a:r>
              <a:rPr lang="en-US" dirty="0" smtClean="0"/>
              <a:t> – For manual annotation or custom dataset creation.</a:t>
            </a:r>
          </a:p>
          <a:p>
            <a:endParaRPr lang="en-US" dirty="0"/>
          </a:p>
        </p:txBody>
      </p:sp>
    </p:spTree>
    <p:extLst>
      <p:ext uri="{BB962C8B-B14F-4D97-AF65-F5344CB8AC3E}">
        <p14:creationId xmlns:p14="http://schemas.microsoft.com/office/powerpoint/2010/main" xmlns="" val="564571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lum bright="16000" contrast="-2000"/>
          </a:blip>
          <a:srcRect/>
          <a:stretch>
            <a:fillRect/>
          </a:stretch>
        </p:blipFill>
        <p:spPr bwMode="auto">
          <a:xfrm>
            <a:off x="8610601" y="1336431"/>
            <a:ext cx="3581399" cy="5372099"/>
          </a:xfrm>
          <a:prstGeom prst="rect">
            <a:avLst/>
          </a:prstGeom>
          <a:noFill/>
          <a:ln w="9525">
            <a:noFill/>
            <a:miter lim="800000"/>
            <a:headEnd/>
            <a:tailEnd/>
          </a:ln>
          <a:effectLst/>
        </p:spPr>
      </p:pic>
      <p:sp>
        <p:nvSpPr>
          <p:cNvPr id="3" name="TextBox 2">
            <a:extLst>
              <a:ext uri="{FF2B5EF4-FFF2-40B4-BE49-F238E27FC236}">
                <a16:creationId xmlns:a16="http://schemas.microsoft.com/office/drawing/2014/main" xmlns="" id="{2361D872-7EC7-439F-A588-B1D90CB7A92F}"/>
              </a:ext>
            </a:extLst>
          </p:cNvPr>
          <p:cNvSpPr txBox="1"/>
          <p:nvPr/>
        </p:nvSpPr>
        <p:spPr>
          <a:xfrm>
            <a:off x="277148" y="873980"/>
            <a:ext cx="6102626" cy="400110"/>
          </a:xfrm>
          <a:prstGeom prst="rect">
            <a:avLst/>
          </a:prstGeom>
          <a:noFill/>
        </p:spPr>
        <p:txBody>
          <a:bodyPr wrap="square">
            <a:spAutoFit/>
          </a:bodyPr>
          <a:lstStyle/>
          <a:p>
            <a:r>
              <a:rPr lang="en-US" sz="2000" b="1" dirty="0">
                <a:solidFill>
                  <a:srgbClr val="213163"/>
                </a:solidFill>
              </a:rPr>
              <a:t>Methodology</a:t>
            </a:r>
            <a:r>
              <a:rPr lang="en-US" sz="1800" b="1" dirty="0">
                <a:solidFill>
                  <a:srgbClr val="213163"/>
                </a:solidFill>
              </a:rPr>
              <a:t> </a:t>
            </a:r>
            <a:endParaRPr lang="en-IN" sz="1800" dirty="0">
              <a:solidFill>
                <a:srgbClr val="213163"/>
              </a:solidFill>
            </a:endParaRPr>
          </a:p>
        </p:txBody>
      </p:sp>
      <p:sp>
        <p:nvSpPr>
          <p:cNvPr id="4" name="TextBox 3"/>
          <p:cNvSpPr txBox="1"/>
          <p:nvPr/>
        </p:nvSpPr>
        <p:spPr>
          <a:xfrm>
            <a:off x="360483" y="1301262"/>
            <a:ext cx="8853855" cy="5442438"/>
          </a:xfrm>
          <a:prstGeom prst="rect">
            <a:avLst/>
          </a:prstGeom>
          <a:noFill/>
        </p:spPr>
        <p:txBody>
          <a:bodyPr wrap="square" rtlCol="0">
            <a:spAutoFit/>
          </a:bodyPr>
          <a:lstStyle/>
          <a:p>
            <a:r>
              <a:rPr lang="en-US" sz="1400" dirty="0" smtClean="0"/>
              <a:t>The project follows a systematic AI development lifecycle, from dataset preparation to deployment. Below is a step-by-step breakdown:</a:t>
            </a:r>
          </a:p>
          <a:p>
            <a:r>
              <a:rPr lang="en-US" sz="1400" b="1" dirty="0" smtClean="0"/>
              <a:t>1. Problem Definition</a:t>
            </a:r>
          </a:p>
          <a:p>
            <a:r>
              <a:rPr lang="en-US" sz="1400" dirty="0" smtClean="0"/>
              <a:t>Identify the need for early plant disease detection to assist farmers and improve crop yield.</a:t>
            </a:r>
          </a:p>
          <a:p>
            <a:r>
              <a:rPr lang="en-US" sz="1400" dirty="0" smtClean="0"/>
              <a:t>Define the objective: Build an AI-powered system that can classify plant diseases from leaf images.</a:t>
            </a:r>
          </a:p>
          <a:p>
            <a:r>
              <a:rPr lang="en-US" sz="1400" b="1" dirty="0" smtClean="0"/>
              <a:t>2. Data Collection &amp; Preprocessing</a:t>
            </a:r>
          </a:p>
          <a:p>
            <a:r>
              <a:rPr lang="en-US" sz="1400" b="1" dirty="0" smtClean="0"/>
              <a:t>Dataset</a:t>
            </a:r>
            <a:r>
              <a:rPr lang="en-US" sz="1400" dirty="0" smtClean="0"/>
              <a:t>: Use the </a:t>
            </a:r>
            <a:r>
              <a:rPr lang="en-US" sz="1400" b="1" dirty="0" err="1" smtClean="0"/>
              <a:t>PlantVillage</a:t>
            </a:r>
            <a:r>
              <a:rPr lang="en-US" sz="1400" dirty="0" smtClean="0"/>
              <a:t> dataset (or other agricultural image datasets) containing thousands of labeled leaf images.</a:t>
            </a:r>
          </a:p>
          <a:p>
            <a:r>
              <a:rPr lang="en-US" sz="1400" b="1" dirty="0" smtClean="0"/>
              <a:t>Preprocessing Steps</a:t>
            </a:r>
            <a:r>
              <a:rPr lang="en-US" sz="1400" dirty="0" smtClean="0"/>
              <a:t>:</a:t>
            </a:r>
          </a:p>
          <a:p>
            <a:pPr lvl="1"/>
            <a:r>
              <a:rPr lang="en-US" sz="1400" dirty="0" smtClean="0"/>
              <a:t>Resize images (e.g., 224x224 pixels).</a:t>
            </a:r>
          </a:p>
          <a:p>
            <a:pPr lvl="1"/>
            <a:r>
              <a:rPr lang="en-US" sz="1400" dirty="0" smtClean="0"/>
              <a:t>Normalize pixel values.</a:t>
            </a:r>
          </a:p>
          <a:p>
            <a:pPr lvl="1"/>
            <a:r>
              <a:rPr lang="en-US" sz="1400" dirty="0" smtClean="0"/>
              <a:t>Perform </a:t>
            </a:r>
            <a:r>
              <a:rPr lang="en-US" sz="1400" b="1" dirty="0" smtClean="0"/>
              <a:t>Data Augmentation</a:t>
            </a:r>
            <a:r>
              <a:rPr lang="en-US" sz="1400" dirty="0" smtClean="0"/>
              <a:t> (rotation, flip, zoom) to reduce </a:t>
            </a:r>
            <a:r>
              <a:rPr lang="en-US" sz="1400" dirty="0" err="1" smtClean="0"/>
              <a:t>overfitting</a:t>
            </a:r>
            <a:r>
              <a:rPr lang="en-US" sz="1400" dirty="0" smtClean="0"/>
              <a:t> and improve generalization.</a:t>
            </a:r>
          </a:p>
          <a:p>
            <a:r>
              <a:rPr lang="en-US" sz="1400" b="1" dirty="0" smtClean="0"/>
              <a:t>3. Model Development</a:t>
            </a:r>
          </a:p>
          <a:p>
            <a:r>
              <a:rPr lang="en-US" sz="1400" dirty="0" smtClean="0"/>
              <a:t>Use </a:t>
            </a:r>
            <a:r>
              <a:rPr lang="en-US" sz="1400" b="1" dirty="0" err="1" smtClean="0"/>
              <a:t>Convolutional</a:t>
            </a:r>
            <a:r>
              <a:rPr lang="en-US" sz="1400" b="1" dirty="0" smtClean="0"/>
              <a:t> Neural Networks (CNNs)</a:t>
            </a:r>
            <a:r>
              <a:rPr lang="en-US" sz="1400" dirty="0" smtClean="0"/>
              <a:t> for image classification.</a:t>
            </a:r>
          </a:p>
          <a:p>
            <a:r>
              <a:rPr lang="en-US" sz="1400" dirty="0" smtClean="0"/>
              <a:t>Architecture options:</a:t>
            </a:r>
          </a:p>
          <a:p>
            <a:pPr lvl="1"/>
            <a:r>
              <a:rPr lang="en-US" sz="1400" dirty="0" smtClean="0"/>
              <a:t>Custom CNN</a:t>
            </a:r>
          </a:p>
          <a:p>
            <a:pPr lvl="1"/>
            <a:r>
              <a:rPr lang="en-US" sz="1400" dirty="0" smtClean="0"/>
              <a:t>Transfer Learning using </a:t>
            </a:r>
            <a:r>
              <a:rPr lang="en-US" sz="1400" dirty="0" err="1" smtClean="0"/>
              <a:t>pretrained</a:t>
            </a:r>
            <a:r>
              <a:rPr lang="en-US" sz="1400" dirty="0" smtClean="0"/>
              <a:t> models like </a:t>
            </a:r>
            <a:r>
              <a:rPr lang="en-US" sz="1400" b="1" dirty="0" err="1" smtClean="0"/>
              <a:t>ResNet</a:t>
            </a:r>
            <a:r>
              <a:rPr lang="en-US" sz="1400" dirty="0" smtClean="0"/>
              <a:t>, </a:t>
            </a:r>
            <a:r>
              <a:rPr lang="en-US" sz="1400" b="1" dirty="0" err="1" smtClean="0"/>
              <a:t>MobileNet</a:t>
            </a:r>
            <a:r>
              <a:rPr lang="en-US" sz="1400" dirty="0" smtClean="0"/>
              <a:t>, or </a:t>
            </a:r>
            <a:r>
              <a:rPr lang="en-US" sz="1400" b="1" dirty="0" smtClean="0"/>
              <a:t>VGG16</a:t>
            </a:r>
            <a:r>
              <a:rPr lang="en-US" sz="1400" dirty="0" smtClean="0"/>
              <a:t>.</a:t>
            </a:r>
          </a:p>
          <a:p>
            <a:r>
              <a:rPr lang="en-US" sz="1400" b="1" dirty="0" smtClean="0"/>
              <a:t>Training</a:t>
            </a:r>
            <a:r>
              <a:rPr lang="en-US" sz="1400" dirty="0" smtClean="0"/>
              <a:t>:</a:t>
            </a:r>
          </a:p>
          <a:p>
            <a:pPr lvl="1"/>
            <a:r>
              <a:rPr lang="en-US" sz="1400" dirty="0" smtClean="0"/>
              <a:t>Split data into training, </a:t>
            </a:r>
            <a:r>
              <a:rPr lang="en-US" sz="1400" dirty="0" smtClean="0"/>
              <a:t>validation </a:t>
            </a:r>
            <a:r>
              <a:rPr lang="en-US" sz="1400" dirty="0" smtClean="0"/>
              <a:t>and test sets.</a:t>
            </a:r>
          </a:p>
          <a:p>
            <a:pPr lvl="1"/>
            <a:r>
              <a:rPr lang="en-US" sz="1400" dirty="0" smtClean="0"/>
              <a:t>Use loss functions like </a:t>
            </a:r>
            <a:r>
              <a:rPr lang="en-US" sz="1400" b="1" dirty="0" smtClean="0"/>
              <a:t>categorical cross-entropy</a:t>
            </a:r>
            <a:r>
              <a:rPr lang="en-US" sz="1400" dirty="0" smtClean="0"/>
              <a:t>.</a:t>
            </a:r>
          </a:p>
          <a:p>
            <a:pPr lvl="1"/>
            <a:r>
              <a:rPr lang="en-US" sz="1400" dirty="0" smtClean="0"/>
              <a:t>Optimize with </a:t>
            </a:r>
            <a:r>
              <a:rPr lang="en-US" sz="1400" b="1" dirty="0" smtClean="0"/>
              <a:t>Adam</a:t>
            </a:r>
            <a:r>
              <a:rPr lang="en-US" sz="1400" dirty="0" smtClean="0"/>
              <a:t> optimizer.</a:t>
            </a:r>
          </a:p>
          <a:p>
            <a:r>
              <a:rPr lang="en-US" sz="1400" b="1" dirty="0" smtClean="0"/>
              <a:t>4. Model Evaluation</a:t>
            </a:r>
          </a:p>
          <a:p>
            <a:r>
              <a:rPr lang="en-US" sz="1400" dirty="0" smtClean="0"/>
              <a:t>Evaluate model performance using:</a:t>
            </a:r>
          </a:p>
          <a:p>
            <a:pPr lvl="1"/>
            <a:r>
              <a:rPr lang="en-US" sz="1400" b="1" dirty="0" smtClean="0"/>
              <a:t>Accuracy</a:t>
            </a:r>
            <a:r>
              <a:rPr lang="en-US" sz="1400" dirty="0" smtClean="0"/>
              <a:t>, </a:t>
            </a:r>
            <a:r>
              <a:rPr lang="en-US" sz="1400" b="1" dirty="0" smtClean="0"/>
              <a:t>Precision</a:t>
            </a:r>
            <a:r>
              <a:rPr lang="en-US" sz="1400" dirty="0" smtClean="0"/>
              <a:t>, </a:t>
            </a:r>
            <a:r>
              <a:rPr lang="en-US" sz="1400" b="1" dirty="0" smtClean="0"/>
              <a:t>Recall</a:t>
            </a:r>
            <a:r>
              <a:rPr lang="en-US" sz="1400" dirty="0" smtClean="0"/>
              <a:t>, </a:t>
            </a:r>
            <a:r>
              <a:rPr lang="en-US" sz="1400" b="1" dirty="0" smtClean="0"/>
              <a:t>F1-Score</a:t>
            </a:r>
            <a:endParaRPr lang="en-US" sz="1400" dirty="0" smtClean="0"/>
          </a:p>
          <a:p>
            <a:pPr lvl="1"/>
            <a:r>
              <a:rPr lang="en-US" sz="1400" b="1" dirty="0" smtClean="0"/>
              <a:t>Confusion Matrix</a:t>
            </a:r>
            <a:r>
              <a:rPr lang="en-US" sz="1400" dirty="0" smtClean="0"/>
              <a:t> to analyze class-wise performance</a:t>
            </a:r>
            <a:r>
              <a:rPr lang="en-US" sz="1400" dirty="0" smtClean="0"/>
              <a:t>.</a:t>
            </a:r>
            <a:endParaRPr lang="en-US" sz="1400" dirty="0" smtClean="0"/>
          </a:p>
        </p:txBody>
      </p:sp>
    </p:spTree>
    <p:extLst>
      <p:ext uri="{BB962C8B-B14F-4D97-AF65-F5344CB8AC3E}">
        <p14:creationId xmlns:p14="http://schemas.microsoft.com/office/powerpoint/2010/main" xmlns="" val="2706790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Problem Statement:  </a:t>
            </a:r>
            <a:endParaRPr lang="en-IN" sz="2000" b="1" dirty="0">
              <a:solidFill>
                <a:srgbClr val="213163"/>
              </a:solidFill>
            </a:endParaRPr>
          </a:p>
        </p:txBody>
      </p:sp>
      <p:sp>
        <p:nvSpPr>
          <p:cNvPr id="4" name="TextBox 3"/>
          <p:cNvSpPr txBox="1"/>
          <p:nvPr/>
        </p:nvSpPr>
        <p:spPr>
          <a:xfrm>
            <a:off x="474785" y="1987062"/>
            <a:ext cx="11394830" cy="3252878"/>
          </a:xfrm>
          <a:prstGeom prst="rect">
            <a:avLst/>
          </a:prstGeom>
          <a:noFill/>
        </p:spPr>
        <p:txBody>
          <a:bodyPr wrap="square" rtlCol="0">
            <a:spAutoFit/>
          </a:bodyPr>
          <a:lstStyle/>
          <a:p>
            <a:r>
              <a:rPr lang="en-US" dirty="0" smtClean="0"/>
              <a:t>Agriculture plays a vital role in global food security and the economy. However, plant diseases pose a significant threat to crop productivity, especially for small-scale farmers who may lack access to timely expert advice. Traditional disease diagnosis methods are time-consuming, </a:t>
            </a:r>
            <a:r>
              <a:rPr lang="en-US" dirty="0" smtClean="0"/>
              <a:t>expensive </a:t>
            </a:r>
            <a:r>
              <a:rPr lang="en-US" dirty="0" smtClean="0"/>
              <a:t>and require specialized knowledge.</a:t>
            </a:r>
          </a:p>
          <a:p>
            <a:r>
              <a:rPr lang="en-US" dirty="0" smtClean="0"/>
              <a:t>There is a critical need for an accessible, </a:t>
            </a:r>
            <a:r>
              <a:rPr lang="en-US" dirty="0" smtClean="0"/>
              <a:t>fast </a:t>
            </a:r>
            <a:r>
              <a:rPr lang="en-US" dirty="0" smtClean="0"/>
              <a:t>and accurate solution that can assist farmers in identifying plant diseases early and taking appropriate action.</a:t>
            </a:r>
          </a:p>
          <a:p>
            <a:r>
              <a:rPr lang="en-US" dirty="0" smtClean="0"/>
              <a:t>This project aims to develop an </a:t>
            </a:r>
            <a:r>
              <a:rPr lang="en-US" b="1" dirty="0" smtClean="0"/>
              <a:t>AI-powered Plant Disease Detection system</a:t>
            </a:r>
            <a:r>
              <a:rPr lang="en-US" dirty="0" smtClean="0"/>
              <a:t> that can analyze images of plant leaves and accurately identify diseases using deep learning. The solution will provide instant feedback along with suggested remedies, enabling farmers to take preventive or corrective measures, thereby reducing crop loss and improving agricultural outcomes.</a:t>
            </a:r>
          </a:p>
          <a:p>
            <a:endParaRPr lang="en-US" dirty="0"/>
          </a:p>
        </p:txBody>
      </p:sp>
    </p:spTree>
    <p:extLst>
      <p:ext uri="{BB962C8B-B14F-4D97-AF65-F5344CB8AC3E}">
        <p14:creationId xmlns:p14="http://schemas.microsoft.com/office/powerpoint/2010/main" xmlns="" val="31965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2361D872-7EC7-439F-A588-B1D90CB7A92F}"/>
              </a:ext>
            </a:extLst>
          </p:cNvPr>
          <p:cNvSpPr txBox="1"/>
          <p:nvPr/>
        </p:nvSpPr>
        <p:spPr>
          <a:xfrm>
            <a:off x="343027" y="860981"/>
            <a:ext cx="6102626" cy="400110"/>
          </a:xfrm>
          <a:prstGeom prst="rect">
            <a:avLst/>
          </a:prstGeom>
          <a:noFill/>
        </p:spPr>
        <p:txBody>
          <a:bodyPr wrap="square">
            <a:spAutoFit/>
          </a:bodyPr>
          <a:lstStyle/>
          <a:p>
            <a:r>
              <a:rPr lang="en-US" sz="2000" b="1" dirty="0">
                <a:solidFill>
                  <a:srgbClr val="213163"/>
                </a:solidFill>
              </a:rPr>
              <a:t>Solution:  </a:t>
            </a:r>
            <a:endParaRPr lang="en-IN" sz="2000" b="1" dirty="0">
              <a:solidFill>
                <a:srgbClr val="213163"/>
              </a:solidFill>
            </a:endParaRPr>
          </a:p>
        </p:txBody>
      </p:sp>
      <p:sp>
        <p:nvSpPr>
          <p:cNvPr id="4" name="TextBox 3"/>
          <p:cNvSpPr txBox="1"/>
          <p:nvPr/>
        </p:nvSpPr>
        <p:spPr>
          <a:xfrm>
            <a:off x="325317" y="1345222"/>
            <a:ext cx="8748346" cy="5755422"/>
          </a:xfrm>
          <a:prstGeom prst="rect">
            <a:avLst/>
          </a:prstGeom>
          <a:noFill/>
        </p:spPr>
        <p:txBody>
          <a:bodyPr wrap="square" rtlCol="0">
            <a:spAutoFit/>
          </a:bodyPr>
          <a:lstStyle/>
          <a:p>
            <a:r>
              <a:rPr lang="en-US" sz="1600" b="1" dirty="0" smtClean="0"/>
              <a:t>🔍 1. Image-Based Disease Detection</a:t>
            </a:r>
          </a:p>
          <a:p>
            <a:r>
              <a:rPr lang="en-US" sz="1600" dirty="0" smtClean="0"/>
              <a:t>Users upload an image of a plant leaf.</a:t>
            </a:r>
          </a:p>
          <a:p>
            <a:r>
              <a:rPr lang="en-US" sz="1600" dirty="0" smtClean="0"/>
              <a:t>The image is preprocessed and analyzed by a trained </a:t>
            </a:r>
            <a:r>
              <a:rPr lang="en-US" sz="1600" b="1" dirty="0" err="1" smtClean="0"/>
              <a:t>Convolutional</a:t>
            </a:r>
            <a:r>
              <a:rPr lang="en-US" sz="1600" b="1" dirty="0" smtClean="0"/>
              <a:t> </a:t>
            </a:r>
            <a:r>
              <a:rPr lang="en-US" sz="1600" b="1" dirty="0" smtClean="0"/>
              <a:t>Neural Network (CNN)</a:t>
            </a:r>
            <a:r>
              <a:rPr lang="en-US" sz="1600" dirty="0" smtClean="0"/>
              <a:t> model.</a:t>
            </a:r>
          </a:p>
          <a:p>
            <a:r>
              <a:rPr lang="en-US" sz="1600" dirty="0" smtClean="0"/>
              <a:t>The system predicts the disease class with high accuracy and provides a confidence score.</a:t>
            </a:r>
          </a:p>
          <a:p>
            <a:r>
              <a:rPr lang="en-US" sz="1600" b="1" dirty="0" smtClean="0"/>
              <a:t>🌐 2. Web or Mobile Interface</a:t>
            </a:r>
          </a:p>
          <a:p>
            <a:r>
              <a:rPr lang="en-US" sz="1600" dirty="0" smtClean="0"/>
              <a:t>A simple and intuitive interface (using </a:t>
            </a:r>
            <a:r>
              <a:rPr lang="en-US" sz="1600" b="1" dirty="0" err="1" smtClean="0"/>
              <a:t>Streamlit</a:t>
            </a:r>
            <a:r>
              <a:rPr lang="en-US" sz="1600" dirty="0" smtClean="0"/>
              <a:t> or </a:t>
            </a:r>
            <a:r>
              <a:rPr lang="en-US" sz="1600" b="1" dirty="0" smtClean="0"/>
              <a:t>React</a:t>
            </a:r>
            <a:r>
              <a:rPr lang="en-US" sz="1600" dirty="0" smtClean="0"/>
              <a:t>) allows farmers and users to:</a:t>
            </a:r>
          </a:p>
          <a:p>
            <a:pPr lvl="1"/>
            <a:r>
              <a:rPr lang="en-US" sz="1600" dirty="0" smtClean="0"/>
              <a:t>Upload leaf images.</a:t>
            </a:r>
          </a:p>
          <a:p>
            <a:pPr lvl="1"/>
            <a:r>
              <a:rPr lang="en-US" sz="1600" dirty="0" smtClean="0"/>
              <a:t>Instantly receive disease diagnosis.</a:t>
            </a:r>
          </a:p>
          <a:p>
            <a:pPr lvl="1"/>
            <a:r>
              <a:rPr lang="en-US" sz="1600" dirty="0" smtClean="0"/>
              <a:t>Access recommended treatments or links to agricultural resources.</a:t>
            </a:r>
          </a:p>
          <a:p>
            <a:r>
              <a:rPr lang="en-US" sz="1600" b="1" dirty="0" smtClean="0"/>
              <a:t>🧠 3. AI Model Integration</a:t>
            </a:r>
          </a:p>
          <a:p>
            <a:r>
              <a:rPr lang="en-US" sz="1600" dirty="0" smtClean="0"/>
              <a:t>Trained on datasets like </a:t>
            </a:r>
            <a:r>
              <a:rPr lang="en-US" sz="1600" b="1" dirty="0" err="1" smtClean="0"/>
              <a:t>PlantVillage</a:t>
            </a:r>
            <a:r>
              <a:rPr lang="en-US" sz="1600" dirty="0" smtClean="0"/>
              <a:t>.</a:t>
            </a:r>
          </a:p>
          <a:p>
            <a:r>
              <a:rPr lang="en-US" sz="1600" dirty="0" smtClean="0"/>
              <a:t>Supports multiple crops (e.g., tomato, potato, maize).</a:t>
            </a:r>
          </a:p>
          <a:p>
            <a:r>
              <a:rPr lang="en-US" sz="1600" dirty="0" smtClean="0"/>
              <a:t>Uses transfer learning for better accuracy and faster training.</a:t>
            </a:r>
          </a:p>
          <a:p>
            <a:r>
              <a:rPr lang="en-US" sz="1600" b="1" dirty="0" smtClean="0"/>
              <a:t>🗂️ 4. Backend &amp; API Services</a:t>
            </a:r>
          </a:p>
          <a:p>
            <a:r>
              <a:rPr lang="en-US" sz="1600" dirty="0" smtClean="0"/>
              <a:t>The trained model is served via a </a:t>
            </a:r>
            <a:r>
              <a:rPr lang="en-US" sz="1600" b="1" dirty="0" err="1" smtClean="0"/>
              <a:t>FastAPI</a:t>
            </a:r>
            <a:r>
              <a:rPr lang="en-US" sz="1600" dirty="0" smtClean="0"/>
              <a:t> or </a:t>
            </a:r>
            <a:r>
              <a:rPr lang="en-US" sz="1600" b="1" dirty="0" smtClean="0"/>
              <a:t>Flask</a:t>
            </a:r>
            <a:r>
              <a:rPr lang="en-US" sz="1600" dirty="0" smtClean="0"/>
              <a:t> backend.</a:t>
            </a:r>
          </a:p>
          <a:p>
            <a:r>
              <a:rPr lang="en-US" sz="1600" dirty="0" smtClean="0"/>
              <a:t>APIs process images and return disease predictions in real-time.</a:t>
            </a:r>
          </a:p>
          <a:p>
            <a:r>
              <a:rPr lang="en-US" sz="1600" b="1" dirty="0" smtClean="0"/>
              <a:t>🚀 5. Deployment &amp; Accessibility</a:t>
            </a:r>
          </a:p>
          <a:p>
            <a:r>
              <a:rPr lang="en-US" sz="1600" dirty="0" smtClean="0"/>
              <a:t>The application is containerized using </a:t>
            </a:r>
            <a:r>
              <a:rPr lang="en-US" sz="1600" b="1" dirty="0" err="1" smtClean="0"/>
              <a:t>Docker</a:t>
            </a:r>
            <a:r>
              <a:rPr lang="en-US" sz="1600" dirty="0" smtClean="0"/>
              <a:t>.</a:t>
            </a:r>
          </a:p>
          <a:p>
            <a:r>
              <a:rPr lang="en-US" sz="1600" dirty="0" smtClean="0"/>
              <a:t>Deployed on cloud platforms (e.g., </a:t>
            </a:r>
            <a:r>
              <a:rPr lang="en-US" sz="1600" dirty="0" err="1" smtClean="0"/>
              <a:t>Streamlit</a:t>
            </a:r>
            <a:r>
              <a:rPr lang="en-US" sz="1600" dirty="0" smtClean="0"/>
              <a:t> Cloud, </a:t>
            </a:r>
            <a:r>
              <a:rPr lang="en-US" sz="1600" dirty="0" err="1" smtClean="0"/>
              <a:t>Heroku</a:t>
            </a:r>
            <a:r>
              <a:rPr lang="en-US" sz="1600" dirty="0" smtClean="0"/>
              <a:t>, AWS) to ensure 24/7 access from anywhere.</a:t>
            </a:r>
          </a:p>
          <a:p>
            <a:r>
              <a:rPr lang="en-US" sz="1600" dirty="0" smtClean="0"/>
              <a:t>Optional </a:t>
            </a:r>
            <a:r>
              <a:rPr lang="en-US" sz="1600" b="1" dirty="0" smtClean="0"/>
              <a:t>multilingual support</a:t>
            </a:r>
            <a:r>
              <a:rPr lang="en-US" sz="1600" dirty="0" smtClean="0"/>
              <a:t> for usability in rural areas.</a:t>
            </a:r>
          </a:p>
          <a:p>
            <a:endParaRPr lang="en-US" sz="1600" dirty="0"/>
          </a:p>
        </p:txBody>
      </p:sp>
    </p:spTree>
    <p:extLst>
      <p:ext uri="{BB962C8B-B14F-4D97-AF65-F5344CB8AC3E}">
        <p14:creationId xmlns:p14="http://schemas.microsoft.com/office/powerpoint/2010/main" xmlns="" val="3002968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pic>
        <p:nvPicPr>
          <p:cNvPr id="3074" name="Picture 2" descr="C:\Users\BRIJESH KASAUDHAN\Pictures\Screenshots\Screenshot (51).png"/>
          <p:cNvPicPr>
            <a:picLocks noChangeAspect="1" noChangeArrowheads="1"/>
          </p:cNvPicPr>
          <p:nvPr/>
        </p:nvPicPr>
        <p:blipFill>
          <a:blip r:embed="rId2"/>
          <a:srcRect/>
          <a:stretch>
            <a:fillRect/>
          </a:stretch>
        </p:blipFill>
        <p:spPr bwMode="auto">
          <a:xfrm>
            <a:off x="395654" y="1751540"/>
            <a:ext cx="5890845" cy="4552544"/>
          </a:xfrm>
          <a:prstGeom prst="rect">
            <a:avLst/>
          </a:prstGeom>
          <a:noFill/>
        </p:spPr>
      </p:pic>
      <p:pic>
        <p:nvPicPr>
          <p:cNvPr id="3075" name="Picture 3" descr="C:\Users\BRIJESH KASAUDHAN\Pictures\Screenshots\Screenshot (52).png"/>
          <p:cNvPicPr>
            <a:picLocks noChangeAspect="1" noChangeArrowheads="1"/>
          </p:cNvPicPr>
          <p:nvPr/>
        </p:nvPicPr>
        <p:blipFill>
          <a:blip r:embed="rId3"/>
          <a:srcRect/>
          <a:stretch>
            <a:fillRect/>
          </a:stretch>
        </p:blipFill>
        <p:spPr bwMode="auto">
          <a:xfrm>
            <a:off x="6496671" y="1793629"/>
            <a:ext cx="5522413" cy="4422532"/>
          </a:xfrm>
          <a:prstGeom prst="rect">
            <a:avLst/>
          </a:prstGeom>
          <a:noFill/>
        </p:spPr>
      </p:pic>
    </p:spTree>
    <p:extLst>
      <p:ext uri="{BB962C8B-B14F-4D97-AF65-F5344CB8AC3E}">
        <p14:creationId xmlns:p14="http://schemas.microsoft.com/office/powerpoint/2010/main" xmlns="" val="1635949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C:\Users\BRIJESH KASAUDHAN\Pictures\Screenshots\Screenshot (53).png"/>
          <p:cNvPicPr>
            <a:picLocks noChangeAspect="1" noChangeArrowheads="1"/>
          </p:cNvPicPr>
          <p:nvPr/>
        </p:nvPicPr>
        <p:blipFill>
          <a:blip r:embed="rId2"/>
          <a:srcRect/>
          <a:stretch>
            <a:fillRect/>
          </a:stretch>
        </p:blipFill>
        <p:spPr bwMode="auto">
          <a:xfrm>
            <a:off x="147270" y="1626560"/>
            <a:ext cx="6096868" cy="4844578"/>
          </a:xfrm>
          <a:prstGeom prst="rect">
            <a:avLst/>
          </a:prstGeom>
          <a:noFill/>
        </p:spPr>
      </p:pic>
      <p:pic>
        <p:nvPicPr>
          <p:cNvPr id="3" name="Picture 5" descr="C:\Users\BRIJESH KASAUDHAN\Pictures\Screenshots\Screenshot (54).png"/>
          <p:cNvPicPr>
            <a:picLocks noChangeAspect="1" noChangeArrowheads="1"/>
          </p:cNvPicPr>
          <p:nvPr/>
        </p:nvPicPr>
        <p:blipFill>
          <a:blip r:embed="rId3"/>
          <a:srcRect/>
          <a:stretch>
            <a:fillRect/>
          </a:stretch>
        </p:blipFill>
        <p:spPr bwMode="auto">
          <a:xfrm>
            <a:off x="6435969" y="1617785"/>
            <a:ext cx="5547946" cy="4835769"/>
          </a:xfrm>
          <a:prstGeom prst="rect">
            <a:avLst/>
          </a:prstGeom>
          <a:noFill/>
        </p:spPr>
      </p:pic>
      <p:sp>
        <p:nvSpPr>
          <p:cNvPr id="5" name="TextBox 4">
            <a:extLst>
              <a:ext uri="{FF2B5EF4-FFF2-40B4-BE49-F238E27FC236}">
                <a16:creationId xmlns:a16="http://schemas.microsoft.com/office/drawing/2014/main" xmlns=""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2361D872-7EC7-439F-A588-B1D90CB7A92F}"/>
              </a:ext>
            </a:extLst>
          </p:cNvPr>
          <p:cNvSpPr txBox="1"/>
          <p:nvPr/>
        </p:nvSpPr>
        <p:spPr>
          <a:xfrm>
            <a:off x="149087" y="988151"/>
            <a:ext cx="6102626" cy="400110"/>
          </a:xfrm>
          <a:prstGeom prst="rect">
            <a:avLst/>
          </a:prstGeom>
          <a:noFill/>
        </p:spPr>
        <p:txBody>
          <a:bodyPr wrap="square">
            <a:spAutoFit/>
          </a:bodyPr>
          <a:lstStyle/>
          <a:p>
            <a:r>
              <a:rPr lang="en-US" sz="2000" b="1" dirty="0">
                <a:solidFill>
                  <a:srgbClr val="213163"/>
                </a:solidFill>
              </a:rPr>
              <a:t>Conclusion:</a:t>
            </a:r>
            <a:r>
              <a:rPr lang="en-US" sz="1800" b="1" dirty="0">
                <a:solidFill>
                  <a:srgbClr val="213163"/>
                </a:solidFill>
              </a:rPr>
              <a:t>  </a:t>
            </a:r>
            <a:endParaRPr lang="en-IN" sz="1800" dirty="0">
              <a:solidFill>
                <a:srgbClr val="213163"/>
              </a:solidFill>
            </a:endParaRPr>
          </a:p>
        </p:txBody>
      </p:sp>
      <p:sp>
        <p:nvSpPr>
          <p:cNvPr id="7" name="TextBox 6"/>
          <p:cNvSpPr txBox="1"/>
          <p:nvPr/>
        </p:nvSpPr>
        <p:spPr>
          <a:xfrm>
            <a:off x="668215" y="1995854"/>
            <a:ext cx="10902462" cy="3540200"/>
          </a:xfrm>
          <a:prstGeom prst="rect">
            <a:avLst/>
          </a:prstGeom>
          <a:noFill/>
        </p:spPr>
        <p:txBody>
          <a:bodyPr wrap="square" rtlCol="0">
            <a:spAutoFit/>
          </a:bodyPr>
          <a:lstStyle/>
          <a:p>
            <a:r>
              <a:rPr lang="en-US" dirty="0" smtClean="0"/>
              <a:t>The Plant Disease Detection system demonstrates how Artificial Intelligence and Deep Learning can be effectively applied in agriculture to address real-world challenges. By enabling rapid and accurate detection of plant diseases through image analysis, this solution empowers farmers to take timely action, reducing crop losses and improving productivity.</a:t>
            </a:r>
          </a:p>
          <a:p>
            <a:r>
              <a:rPr lang="en-US" dirty="0" smtClean="0"/>
              <a:t>Through the integration of a user-friendly interface, a robust CNN-based prediction </a:t>
            </a:r>
            <a:r>
              <a:rPr lang="en-US" dirty="0" smtClean="0"/>
              <a:t>model </a:t>
            </a:r>
            <a:r>
              <a:rPr lang="en-US" dirty="0" smtClean="0"/>
              <a:t>and cloud deployment, the system ensures accessibility and usability for a wide range of users, including those in rural or remote areas.</a:t>
            </a:r>
          </a:p>
          <a:p>
            <a:r>
              <a:rPr lang="en-US" dirty="0" smtClean="0"/>
              <a:t>This project not only enhances the efficiency of agricultural practices but also contributes to </a:t>
            </a:r>
            <a:r>
              <a:rPr lang="en-US" b="1" dirty="0" smtClean="0"/>
              <a:t>sustainable farming</a:t>
            </a:r>
            <a:r>
              <a:rPr lang="en-US" dirty="0" smtClean="0"/>
              <a:t>, </a:t>
            </a:r>
            <a:r>
              <a:rPr lang="en-US" b="1" dirty="0" smtClean="0"/>
              <a:t>food security</a:t>
            </a:r>
            <a:r>
              <a:rPr lang="en-US" dirty="0" smtClean="0"/>
              <a:t>, and the </a:t>
            </a:r>
            <a:r>
              <a:rPr lang="en-US" b="1" dirty="0" smtClean="0"/>
              <a:t>digital transformation of agriculture</a:t>
            </a:r>
            <a:r>
              <a:rPr lang="en-US" dirty="0" smtClean="0"/>
              <a:t>. With further improvements—such as real-time detection via mobile cameras, multilingual support, and integration with advisory systems—this solution has strong potential for large-scale adoption and social impact.</a:t>
            </a:r>
          </a:p>
          <a:p>
            <a:endParaRPr lang="en-US" dirty="0"/>
          </a:p>
        </p:txBody>
      </p:sp>
    </p:spTree>
    <p:extLst>
      <p:ext uri="{BB962C8B-B14F-4D97-AF65-F5344CB8AC3E}">
        <p14:creationId xmlns:p14="http://schemas.microsoft.com/office/powerpoint/2010/main" xmlns="" val="1519883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233954" y="2967335"/>
            <a:ext cx="3724096" cy="923330"/>
          </a:xfrm>
          <a:prstGeom prst="rect">
            <a:avLst/>
          </a:prstGeom>
          <a:noFill/>
        </p:spPr>
        <p:txBody>
          <a:bodyPr wrap="none" lIns="91440" tIns="45720" rIns="91440" bIns="45720">
            <a:spAutoFit/>
          </a:bodyPr>
          <a:lstStyle/>
          <a:p>
            <a:pPr algn="ctr"/>
            <a:r>
              <a:rPr lang="en-US" sz="5400" b="1" cap="none" spc="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Thank You</a:t>
            </a:r>
            <a:endParaRPr lang="en-US" sz="5400" b="1" cap="none" spc="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4" name="Rectangle 3"/>
          <p:cNvSpPr/>
          <p:nvPr/>
        </p:nvSpPr>
        <p:spPr>
          <a:xfrm>
            <a:off x="4233952" y="2967335"/>
            <a:ext cx="3724096" cy="923330"/>
          </a:xfrm>
          <a:prstGeom prst="rect">
            <a:avLst/>
          </a:prstGeom>
          <a:noFill/>
        </p:spPr>
        <p:txBody>
          <a:bodyPr wrap="none" lIns="91440" tIns="45720" rIns="91440" bIns="45720">
            <a:spAutoFit/>
          </a:bodyPr>
          <a:lstStyle/>
          <a:p>
            <a:pPr algn="ctr"/>
            <a:r>
              <a:rPr lang="en-US" sz="5400" b="1" cap="none" spc="0" dirty="0"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t>Thank You</a:t>
            </a:r>
            <a:endParaRPr lang="en-US" sz="5400" b="1" cap="none" spc="0" dirty="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endParaRPr>
          </a:p>
        </p:txBody>
      </p:sp>
      <p:sp>
        <p:nvSpPr>
          <p:cNvPr id="5" name="Rectangle 4"/>
          <p:cNvSpPr/>
          <p:nvPr/>
        </p:nvSpPr>
        <p:spPr>
          <a:xfrm>
            <a:off x="4233952" y="2967335"/>
            <a:ext cx="3724096"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Thank You</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Tree>
  </p:cSld>
  <p:clrMapOvr>
    <a:masterClrMapping/>
  </p:clrMapOvr>
</p:sld>
</file>

<file path=ppt/theme/theme1.xml><?xml version="1.0" encoding="utf-8"?>
<a:theme xmlns:a="http://schemas.openxmlformats.org/drawingml/2006/main" name="Session 01 Design Thinking &amp; Critical Thinking">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Session 01 Design Thinking &amp; Critical Thinking" id="{1DE73F69-F87A-4ED3-81C1-82D2BA622E0C}" vid="{37568650-F724-47C7-905E-9640F8017497}"/>
    </a:ext>
  </a:extLst>
</a:theme>
</file>

<file path=docProps/app.xml><?xml version="1.0" encoding="utf-8"?>
<Properties xmlns="http://schemas.openxmlformats.org/officeDocument/2006/extended-properties" xmlns:vt="http://schemas.openxmlformats.org/officeDocument/2006/docPropsVTypes">
  <Template>Session 01 Design Thinking &amp; Critical Thinking</Template>
  <TotalTime>284</TotalTime>
  <Words>978</Words>
  <Application>Microsoft Office PowerPoint</Application>
  <PresentationFormat>Custom</PresentationFormat>
  <Paragraphs>93</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Session 01 Design Thinking &amp; Critical Thinking</vt:lpstr>
      <vt:lpstr>Slide 1</vt:lpstr>
      <vt:lpstr>Slide 2</vt:lpstr>
      <vt:lpstr>Slide 3</vt:lpstr>
      <vt:lpstr>Slide 4</vt:lpstr>
      <vt:lpstr>Slide 5</vt:lpstr>
      <vt:lpstr>Slide 6</vt:lpstr>
      <vt:lpstr>Slide 7</vt:lpstr>
      <vt:lpstr>Slide 8</vt:lpstr>
      <vt:lpstr>Slide 9</vt:lpstr>
      <vt:lpstr>Slide 10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Mahesh Kurhe</dc:creator>
  <cp:lastModifiedBy>BRIJESH KASAUDHAN</cp:lastModifiedBy>
  <cp:revision>6</cp:revision>
  <dcterms:created xsi:type="dcterms:W3CDTF">2024-12-31T09:40:01Z</dcterms:created>
  <dcterms:modified xsi:type="dcterms:W3CDTF">2025-05-18T19:43:07Z</dcterms:modified>
</cp:coreProperties>
</file>